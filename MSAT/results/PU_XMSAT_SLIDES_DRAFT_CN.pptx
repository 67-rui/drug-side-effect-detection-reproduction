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c075cc1c324d05" /><Relationship Type="http://schemas.openxmlformats.org/officeDocument/2006/relationships/extended-properties" Target="/docProps/app.xml" Id="Re14c0a6b68e043f1" /><Relationship Type="http://schemas.openxmlformats.org/officeDocument/2006/relationships/officeDocument" Target="/ppt/presentation.xml" Id="R15e787f339324d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9e4556a084921"/>
  </p:sldMasterIdLst>
  <p:notesMasterIdLst>
    <p:notesMasterId xmlns:r="http://schemas.openxmlformats.org/officeDocument/2006/relationships" r:id="R74392bd74c7e4a13"/>
  </p:notesMasterIdLst>
  <p:sldIdLst>
    <p:sldId xmlns:r="http://schemas.openxmlformats.org/officeDocument/2006/relationships" id="256" r:id="R354bef88027241e3"/>
    <p:sldId xmlns:r="http://schemas.openxmlformats.org/officeDocument/2006/relationships" id="257" r:id="R0b070caf8700435e"/>
    <p:sldId xmlns:r="http://schemas.openxmlformats.org/officeDocument/2006/relationships" id="258" r:id="Rff1ce821561c490c"/>
    <p:sldId xmlns:r="http://schemas.openxmlformats.org/officeDocument/2006/relationships" id="259" r:id="R3412129c77f34910"/>
    <p:sldId xmlns:r="http://schemas.openxmlformats.org/officeDocument/2006/relationships" id="260" r:id="Rb2e108003d414c70"/>
    <p:sldId xmlns:r="http://schemas.openxmlformats.org/officeDocument/2006/relationships" id="261" r:id="R1abf1f3c3e6b442a"/>
    <p:sldId xmlns:r="http://schemas.openxmlformats.org/officeDocument/2006/relationships" id="262" r:id="Rfd4daa617e534fbd"/>
    <p:sldId xmlns:r="http://schemas.openxmlformats.org/officeDocument/2006/relationships" id="263" r:id="R9cc175576c164f62"/>
    <p:sldId xmlns:r="http://schemas.openxmlformats.org/officeDocument/2006/relationships" id="264" r:id="R53bbee2008e34392"/>
    <p:sldId xmlns:r="http://schemas.openxmlformats.org/officeDocument/2006/relationships" id="265" r:id="R721bbd0dd91e4ec7"/>
    <p:sldId xmlns:r="http://schemas.openxmlformats.org/officeDocument/2006/relationships" id="266" r:id="Rb5beccd7276a458a"/>
    <p:sldId xmlns:r="http://schemas.openxmlformats.org/officeDocument/2006/relationships" id="267" r:id="Re62d01bfb74e4a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e613cf7d7a466c" /><Relationship Type="http://schemas.openxmlformats.org/officeDocument/2006/relationships/slideMaster" Target="/ppt/slideMasters/slideMaster1.xml" Id="R2b49e4556a084921" /><Relationship Type="http://schemas.openxmlformats.org/officeDocument/2006/relationships/notesMaster" Target="/ppt/notesMasters/notesMaster1.xml" Id="R74392bd74c7e4a13" /><Relationship Type="http://schemas.openxmlformats.org/officeDocument/2006/relationships/presProps" Target="/ppt/presProps.xml" Id="R75eacc6a8b7040f6" /><Relationship Type="http://schemas.openxmlformats.org/officeDocument/2006/relationships/tableStyles" Target="/ppt/tableStyles.xml" Id="R33c62229ee1543d9" /><Relationship Type="http://schemas.openxmlformats.org/officeDocument/2006/relationships/slide" Target="/ppt/slides/slide1.xml" Id="R354bef88027241e3" /><Relationship Type="http://schemas.openxmlformats.org/officeDocument/2006/relationships/slide" Target="/ppt/slides/slide2.xml" Id="R0b070caf8700435e" /><Relationship Type="http://schemas.openxmlformats.org/officeDocument/2006/relationships/slide" Target="/ppt/slides/slide3.xml" Id="Rff1ce821561c490c" /><Relationship Type="http://schemas.openxmlformats.org/officeDocument/2006/relationships/slide" Target="/ppt/slides/slide4.xml" Id="R3412129c77f34910" /><Relationship Type="http://schemas.openxmlformats.org/officeDocument/2006/relationships/slide" Target="/ppt/slides/slide5.xml" Id="Rb2e108003d414c70" /><Relationship Type="http://schemas.openxmlformats.org/officeDocument/2006/relationships/slide" Target="/ppt/slides/slide6.xml" Id="R1abf1f3c3e6b442a" /><Relationship Type="http://schemas.openxmlformats.org/officeDocument/2006/relationships/slide" Target="/ppt/slides/slide7.xml" Id="Rfd4daa617e534fbd" /><Relationship Type="http://schemas.openxmlformats.org/officeDocument/2006/relationships/slide" Target="/ppt/slides/slide8.xml" Id="R9cc175576c164f62" /><Relationship Type="http://schemas.openxmlformats.org/officeDocument/2006/relationships/slide" Target="/ppt/slides/slide9.xml" Id="R53bbee2008e34392" /><Relationship Type="http://schemas.openxmlformats.org/officeDocument/2006/relationships/slide" Target="/ppt/slides/slide10.xml" Id="R721bbd0dd91e4ec7" /><Relationship Type="http://schemas.openxmlformats.org/officeDocument/2006/relationships/slide" Target="/ppt/slides/slide11.xml" Id="Rb5beccd7276a458a" /><Relationship Type="http://schemas.openxmlformats.org/officeDocument/2006/relationships/slide" Target="/ppt/slides/slide12.xml" Id="Re62d01bfb74e4a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8cf84006394d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5d0927bca546c3" /><Relationship Type="http://schemas.openxmlformats.org/officeDocument/2006/relationships/notesMaster" Target="/ppt/notesMasters/notesMaster1.xml" Id="Rbc4c68b18af34d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246becd3014fd9" /><Relationship Type="http://schemas.openxmlformats.org/officeDocument/2006/relationships/notesMaster" Target="/ppt/notesMasters/notesMaster1.xml" Id="Rebbc708fa1c64d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d7dca0858044db" /><Relationship Type="http://schemas.openxmlformats.org/officeDocument/2006/relationships/notesMaster" Target="/ppt/notesMasters/notesMaster1.xml" Id="R7eb366bddf6e4b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6c950aca654a41" /><Relationship Type="http://schemas.openxmlformats.org/officeDocument/2006/relationships/notesMaster" Target="/ppt/notesMasters/notesMaster1.xml" Id="R24a16db1972a44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d6f4cd606244fb" /><Relationship Type="http://schemas.openxmlformats.org/officeDocument/2006/relationships/notesMaster" Target="/ppt/notesMasters/notesMaster1.xml" Id="R1150bfacd8de47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975794b61e46b7" /><Relationship Type="http://schemas.openxmlformats.org/officeDocument/2006/relationships/notesMaster" Target="/ppt/notesMasters/notesMaster1.xml" Id="R70a3b326c84b41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d6290aec904e5b" /><Relationship Type="http://schemas.openxmlformats.org/officeDocument/2006/relationships/notesMaster" Target="/ppt/notesMasters/notesMaster1.xml" Id="Re8222d276ef642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c44dccb91b4c81" /><Relationship Type="http://schemas.openxmlformats.org/officeDocument/2006/relationships/notesMaster" Target="/ppt/notesMasters/notesMaster1.xml" Id="R537bf215d37545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50fd1a260e41d2" /><Relationship Type="http://schemas.openxmlformats.org/officeDocument/2006/relationships/notesMaster" Target="/ppt/notesMasters/notesMaster1.xml" Id="R3709ce6866044d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7af8fe14794b9b" /><Relationship Type="http://schemas.openxmlformats.org/officeDocument/2006/relationships/notesMaster" Target="/ppt/notesMasters/notesMaster1.xml" Id="Reba7fd2c7c5041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027a31b0944828" /><Relationship Type="http://schemas.openxmlformats.org/officeDocument/2006/relationships/notesMaster" Target="/ppt/notesMasters/notesMaster1.xml" Id="Rc30b3403574343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7d8f0b15d04820" /><Relationship Type="http://schemas.openxmlformats.org/officeDocument/2006/relationships/notesMaster" Target="/ppt/notesMasters/notesMaster1.xml" Id="R61099fa765f74b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先说明这不是单纯重新跑模型，而是先复现、再从复现暴露的问题提出改进。</a:t>
            </a:r>
          </a:p>
          <a:p xmlns:a="http://schemas.openxmlformats.org/drawingml/2006/main">
            <a:r>
              <a:t>强调当前材料用于组会或导师沟通，所有指标来自已验证结果。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用这页把项目动机讲清楚：为什么主实验复现之后还需要 PU-XMSAT。</a:t>
            </a:r>
          </a:p>
          <a:p xmlns:a="http://schemas.openxmlformats.org/drawingml/2006/main">
            <a:r>
              <a:t>未观测样本可能只是没有被报告或证据不充分，不应直接等同于负样本。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这页强调复现不只是指标，还包括协议、切分和图边隐藏。</a:t>
            </a:r>
          </a:p>
          <a:p xmlns:a="http://schemas.openxmlformats.org/drawingml/2006/main">
            <a:r>
              <a:t>当前审计结果 issues 为 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这页只讲主实验锚点。</a:t>
            </a:r>
          </a:p>
          <a:p xmlns:a="http://schemas.openxmlformats.org/drawingml/2006/main">
            <a:r>
              <a:t>避免将 Table 5/6 说成主实验的一部分。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主动说明边界，避免被问到 Table 5/6 时显得被动。</a:t>
            </a:r>
          </a:p>
          <a:p xmlns:a="http://schemas.openxmlformats.org/drawingml/2006/main">
            <a:r>
              <a:t>强调 Table 5/6 是辅助外部验证，不是主性能实验。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PU-XMSAT 的贡献点来自复现发现的问题。</a:t>
            </a:r>
          </a:p>
          <a:p xmlns:a="http://schemas.openxmlformats.org/drawingml/2006/main">
            <a:r>
              <a:t>保留 MSAT 架构，只改变监督配对和样本权重。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这页把实验设置讲清楚，尤其说明 random 是对照而不是最终策略。</a:t>
            </a:r>
          </a:p>
          <a:p xmlns:a="http://schemas.openxmlformats.org/drawingml/2006/main">
            <a:r>
              <a:t>强调当前结论来自 corrected random-cache 和 full-positive pair budget。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 random 已经证明 PU 训练可行，再讲 hybrid 是当前最强结果。</a:t>
            </a:r>
          </a:p>
          <a:p xmlns:a="http://schemas.openxmlformats.org/drawingml/2006/main">
            <a:r>
              <a:t>不要说全面优于，只说 hybrid 在当前协议下表现最好。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这页重点是稳健性，而不是单次最高值。</a:t>
            </a:r>
          </a:p>
          <a:p xmlns:a="http://schemas.openxmlformats.org/drawingml/2006/main">
            <a:r>
              <a:t>主动说明 AUPRC 的边界显著。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说明默认权重有实验依据，不是随意选取。</a:t>
            </a:r>
          </a:p>
          <a:p xmlns:a="http://schemas.openxmlformats.org/drawingml/2006/main">
            <a:r>
              <a:t>u0.4 的 AUC 接近，但 F1/MCC 略弱。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这页用于主动控制结论边界。</a:t>
            </a:r>
          </a:p>
          <a:p xmlns:a="http://schemas.openxmlformats.org/drawingml/2006/main">
            <a:r>
              <a:t>报告时要显示严谨性，而不是只强调提升。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收束到三条路线：写作、外部证据、模型扩展。</a:t>
            </a:r>
          </a:p>
          <a:p xmlns:a="http://schemas.openxmlformats.org/drawingml/2006/main">
            <a:r>
              <a:t>强调现阶段不建议继续重复长训。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2448892ef4c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b9f9e777d6421a" /><Relationship Type="http://schemas.openxmlformats.org/officeDocument/2006/relationships/slideLayout" Target="/ppt/slideLayouts/slideLayout1.xml" Id="Rf10c2b174d294d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0c2b174d294d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73c2b00ac4b52" /><Relationship Type="http://schemas.openxmlformats.org/officeDocument/2006/relationships/notesSlide" Target="/ppt/notesSlides/notesSlide1.xml" Id="R86e5b543c6d54c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8ebc4510b435e" /><Relationship Type="http://schemas.openxmlformats.org/officeDocument/2006/relationships/notesSlide" Target="/ppt/notesSlides/notesSlide2.xml" Id="R2e87b022b96c4d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11ba758bf43e4" /><Relationship Type="http://schemas.openxmlformats.org/officeDocument/2006/relationships/notesSlide" Target="/ppt/notesSlides/notesSlide3.xml" Id="Rd46c0c7e86474b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43ac900014bfa" /><Relationship Type="http://schemas.openxmlformats.org/officeDocument/2006/relationships/notesSlide" Target="/ppt/notesSlides/notesSlide4.xml" Id="R37e0f27aac2a45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fdbb460eb48fc" /><Relationship Type="http://schemas.openxmlformats.org/officeDocument/2006/relationships/notesSlide" Target="/ppt/notesSlides/notesSlide5.xml" Id="Rc95d40277cc24f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32ac1c9104855" /><Relationship Type="http://schemas.openxmlformats.org/officeDocument/2006/relationships/notesSlide" Target="/ppt/notesSlides/notesSlide6.xml" Id="R14e477d5845643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8376a8d9846f4" /><Relationship Type="http://schemas.openxmlformats.org/officeDocument/2006/relationships/notesSlide" Target="/ppt/notesSlides/notesSlide7.xml" Id="Rae2fe7961e9142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4b5dc808c4e2b" /><Relationship Type="http://schemas.openxmlformats.org/officeDocument/2006/relationships/chart" Target="/ppt/slides/charts/chart1.xml" Id="R431260c11994430a" /><Relationship Type="http://schemas.openxmlformats.org/officeDocument/2006/relationships/notesSlide" Target="/ppt/notesSlides/notesSlide8.xml" Id="Rc2e8821b6c084b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e9e040ae34490" /><Relationship Type="http://schemas.openxmlformats.org/officeDocument/2006/relationships/chart" Target="/ppt/slides/charts/chart2.xml" Id="Rbfb407e6beff4f21" /><Relationship Type="http://schemas.openxmlformats.org/officeDocument/2006/relationships/notesSlide" Target="/ppt/notesSlides/notesSlide9.xml" Id="R601d53f3642d4f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e74ef3f404cfe" /><Relationship Type="http://schemas.openxmlformats.org/officeDocument/2006/relationships/chart" Target="/ppt/slides/charts/chart3.xml" Id="R4ea3e0b84a964a20" /><Relationship Type="http://schemas.openxmlformats.org/officeDocument/2006/relationships/notesSlide" Target="/ppt/notesSlides/notesSlide10.xml" Id="R59873701bb2449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ae0b91b3b48fe" /><Relationship Type="http://schemas.openxmlformats.org/officeDocument/2006/relationships/notesSlide" Target="/ppt/notesSlides/notesSlide11.xml" Id="R67edd45b69f646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6f71737384139" /><Relationship Type="http://schemas.openxmlformats.org/officeDocument/2006/relationships/notesSlide" Target="/ppt/notesSlides/notesSlide12.xml" Id="R9353984c34f740e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000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MSAT</c:v>
              </c:pt>
              <c:pt idx="1">
                <c:v>hybrid 2026</c:v>
              </c:pt>
              <c:pt idx="2">
                <c:v>hybrid 1337</c:v>
              </c:pt>
            </c:strLit>
          </c:cat>
          <c:val>
            <c:numLit>
              <c:formatCode>0.000</c:formatCode>
              <c:ptCount val="3"/>
              <c:pt idx="0">
                <c:v>0.931451</c:v>
              </c:pt>
              <c:pt idx="1">
                <c:v>0.935064</c:v>
              </c:pt>
              <c:pt idx="2">
                <c:v>0.934767</c:v>
              </c:pt>
            </c:numLit>
          </c:val>
        </c:ser>
        <c:ser>
          <c:idx val="1"/>
          <c:order val="1"/>
          <c:tx>
            <c:v>MCC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MSAT</c:v>
              </c:pt>
              <c:pt idx="1">
                <c:v>hybrid 2026</c:v>
              </c:pt>
              <c:pt idx="2">
                <c:v>hybrid 1337</c:v>
              </c:pt>
            </c:strLit>
          </c:cat>
          <c:val>
            <c:numLit>
              <c:formatCode>0.000</c:formatCode>
              <c:ptCount val="3"/>
              <c:pt idx="0">
                <c:v>0.86252</c:v>
              </c:pt>
              <c:pt idx="1">
                <c:v>0.868409</c:v>
              </c:pt>
              <c:pt idx="2">
                <c:v>0.868331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95"/>
          <c:min val="0.8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55555"/>
              </a:solidFill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seed range x1e4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AUC</c:v>
              </c:pt>
              <c:pt idx="1">
                <c:v>AUPRC</c:v>
              </c:pt>
              <c:pt idx="2">
                <c:v>F1</c:v>
              </c:pt>
              <c:pt idx="3">
                <c:v>MCC</c:v>
              </c:pt>
            </c:strLit>
          </c:cat>
          <c:val>
            <c:numLit>
              <c:formatCode>0.0</c:formatCode>
              <c:ptCount val="4"/>
              <c:pt idx="0">
                <c:v>0.28</c:v>
              </c:pt>
              <c:pt idx="1">
                <c:v>0.54</c:v>
              </c:pt>
              <c:pt idx="2">
                <c:v>2.97</c:v>
              </c:pt>
              <c:pt idx="3">
                <c:v>0.78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3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000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u0.1</c:v>
              </c:pt>
              <c:pt idx="1">
                <c:v>u0.2</c:v>
              </c:pt>
              <c:pt idx="2">
                <c:v>u0.4</c:v>
              </c:pt>
            </c:strLit>
          </c:cat>
          <c:val>
            <c:numLit>
              <c:formatCode>0.000</c:formatCode>
              <c:ptCount val="3"/>
              <c:pt idx="0">
                <c:v>0.933956</c:v>
              </c:pt>
              <c:pt idx="1">
                <c:v>0.934767</c:v>
              </c:pt>
              <c:pt idx="2">
                <c:v>0.93441</c:v>
              </c:pt>
            </c:numLit>
          </c:val>
        </c:ser>
        <c:ser>
          <c:idx val="1"/>
          <c:order val="1"/>
          <c:tx>
            <c:v>MCC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u0.1</c:v>
              </c:pt>
              <c:pt idx="1">
                <c:v>u0.2</c:v>
              </c:pt>
              <c:pt idx="2">
                <c:v>u0.4</c:v>
              </c:pt>
            </c:strLit>
          </c:cat>
          <c:val>
            <c:numLit>
              <c:formatCode>0.000</c:formatCode>
              <c:ptCount val="3"/>
              <c:pt idx="0">
                <c:v>0.866775</c:v>
              </c:pt>
              <c:pt idx="1">
                <c:v>0.868331</c:v>
              </c:pt>
              <c:pt idx="2">
                <c:v>0.86741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94"/>
          <c:min val="0.8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55555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k-title">
            <a:extLst xmlns:a="http://schemas.openxmlformats.org/drawingml/2006/main">
              <a:ext uri="{FF2B5EF4-FFF2-40B4-BE49-F238E27FC236}">
                <a16:creationId xmlns:a16="http://schemas.microsoft.com/office/drawing/2014/main" id="{0221ADB9-59C9-4BC5-BC7F-07568BDC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PU-XMSAT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D431856-9FC3-4F63-AD48-34ADA1E9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基于 MSAT 复现的中药不良反应预测改进研究</a:t>
            </a:r>
          </a:p>
        </p:txBody>
      </p:sp>
      <p:sp>
        <p:nvSpPr>
          <p:cNvPr id="3" name="deck-kicker">
            <a:extLst xmlns:a="http://schemas.openxmlformats.org/drawingml/2006/main">
              <a:ext uri="{FF2B5EF4-FFF2-40B4-BE49-F238E27FC236}">
                <a16:creationId xmlns:a16="http://schemas.microsoft.com/office/drawing/2014/main" id="{143CD22F-FABA-452B-BB2B-99107286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复现锚点 + Positive-Unlabeled Learning 扩展</a:t>
            </a:r>
          </a:p>
        </p:txBody>
      </p:sp>
      <p:sp>
        <p:nvSpPr>
          <p:cNvPr id="4" name="right-panel">
            <a:extLst xmlns:a="http://schemas.openxmlformats.org/drawingml/2006/main">
              <a:ext uri="{FF2B5EF4-FFF2-40B4-BE49-F238E27FC236}">
                <a16:creationId xmlns:a16="http://schemas.microsoft.com/office/drawing/2014/main" id="{70F41617-323C-48E0-A3DF-311D5474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239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E7932-9151-4DF3-97EE-F014DAE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28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</p:txBody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AD134583-872B-4819-9B44-89473FF9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43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147AA639-8394-477B-830A-C99B6211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MSAT 主实验已完成协议核对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291038B-EFCC-4643-9D4D-2791E812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1377F07-A27A-4EEE-86DD-0BDBDF19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669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PU-XMSAT hybrid 完成 two-seed 验证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FFCCE9B0-5CFA-4E32-9796-7166E920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1F52712-73E0-4E40-B98A-A5EA6FA8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权重敏感性支持 u0.2/rn0.8</a:t>
            </a:r>
          </a:p>
        </p:txBody>
      </p:sp>
      <p:sp>
        <p:nvSpPr>
          <p:cNvPr id="12" name="deck-footer">
            <a:extLst xmlns:a="http://schemas.openxmlformats.org/drawingml/2006/main">
              <a:ext uri="{FF2B5EF4-FFF2-40B4-BE49-F238E27FC236}">
                <a16:creationId xmlns:a16="http://schemas.microsoft.com/office/drawing/2014/main" id="{D0EA16B0-C4BD-42E1-AC9B-B885E06A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2026-06-27 · codex/pu-xmsat-implementation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81598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945D7273-E963-4C92-8C7C-41F16F00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Background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A58B848-F498-418A-9C74-5327182F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研究背景与关键问题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C81FF3C9-D024-4997-9283-A3D412CD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818C477-613B-4F8F-9335-2085425F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EE541023-683D-4EE1-A159-9FBD6E28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0CB9E29-FF28-49FA-B5A6-E7C2B15A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中药不良反应关联稀疏，报告不完整，机制路径复杂。</a:t>
            </a:r>
          </a:p>
        </p:txBody>
      </p:sp>
      <p:sp>
        <p:nvSpPr>
          <p:cNvPr id="7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6E07C31E-E9D3-4934-9FDA-5E55D6A2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FB3DF8F-E092-407C-8F3B-BDAB734D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MSAT 以多源图结构预测 CMM-ADR 关系，是本项目复现锚点。</a:t>
            </a:r>
          </a:p>
        </p:txBody>
      </p:sp>
      <p:sp>
        <p:nvSpPr>
          <p:cNvPr id="9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5A9ED7AE-1284-4CFC-B177-74D54CAF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7AF904B-7DA1-42DB-AA3F-E85D595A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复现中暴露的问题：未观测配对常被直接当作负样本。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A9BFF-2C52-4A77-9D5F-B55A32C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46F10-05A9-4483-BAB8-83F34E09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8FF07-8E40-4809-8BA7-B8B0BF01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2218B-6AE9-42B2-8F00-D048D81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Observed positive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79D20-4709-4CBC-BB82-00242486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Unobserved 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62000-7450-4E57-8A12-E4980430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Assumed negative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A3B2A-5AB8-4792-AFF7-C4877A94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核心问题：未观测不等于无关联</a:t>
            </a:r>
          </a:p>
        </p:txBody>
      </p:sp>
    </p:spTree>
    <p:extLst>
      <p:ext uri="{BB962C8B-B14F-4D97-AF65-F5344CB8AC3E}">
        <p14:creationId xmlns:p14="http://schemas.microsoft.com/office/powerpoint/2010/main" val="2028182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B7CD842F-AFB8-4BA6-9F78-82FC1265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Reproduction Protocol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0A7CB89-711D-4894-B156-BDEAC1C3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复现协议与审计状态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3675E270-FAD0-40C5-90EB-0D594685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87FFF4E3-E337-4CC2-A06B-9002BF57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metric-protocol">
            <a:extLst xmlns:a="http://schemas.openxmlformats.org/drawingml/2006/main">
              <a:ext uri="{FF2B5EF4-FFF2-40B4-BE49-F238E27FC236}">
                <a16:creationId xmlns:a16="http://schemas.microsoft.com/office/drawing/2014/main" id="{4E34113F-0B56-455E-BE44-F14F10B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metric-value-protocol">
            <a:extLst xmlns:a="http://schemas.openxmlformats.org/drawingml/2006/main">
              <a:ext uri="{FF2B5EF4-FFF2-40B4-BE49-F238E27FC236}">
                <a16:creationId xmlns:a16="http://schemas.microsoft.com/office/drawing/2014/main" id="{26BDB903-BE73-46D5-9CA7-73F3BA0F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2026-06-23</a:t>
            </a:r>
          </a:p>
        </p:txBody>
      </p:sp>
      <p:sp>
        <p:nvSpPr>
          <p:cNvPr id="7" name="metric-label-protocol">
            <a:extLst xmlns:a="http://schemas.openxmlformats.org/drawingml/2006/main">
              <a:ext uri="{FF2B5EF4-FFF2-40B4-BE49-F238E27FC236}">
                <a16:creationId xmlns:a16="http://schemas.microsoft.com/office/drawing/2014/main" id="{927CC14F-0FA4-4D76-8880-3CFCA924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protocol version</a:t>
            </a:r>
          </a:p>
        </p:txBody>
      </p:sp>
      <p:sp>
        <p:nvSpPr>
          <p:cNvPr id="8" name="metric-audit issues">
            <a:extLst xmlns:a="http://schemas.openxmlformats.org/drawingml/2006/main">
              <a:ext uri="{FF2B5EF4-FFF2-40B4-BE49-F238E27FC236}">
                <a16:creationId xmlns:a16="http://schemas.microsoft.com/office/drawing/2014/main" id="{230BBE89-A943-4419-9F4E-FE374DB4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6764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metric-value-audit issues">
            <a:extLst xmlns:a="http://schemas.openxmlformats.org/drawingml/2006/main">
              <a:ext uri="{FF2B5EF4-FFF2-40B4-BE49-F238E27FC236}">
                <a16:creationId xmlns:a16="http://schemas.microsoft.com/office/drawing/2014/main" id="{00BDC00B-92B1-49A5-96D7-37DEC1FC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669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0" name="metric-label-audit issues">
            <a:extLst xmlns:a="http://schemas.openxmlformats.org/drawingml/2006/main">
              <a:ext uri="{FF2B5EF4-FFF2-40B4-BE49-F238E27FC236}">
                <a16:creationId xmlns:a16="http://schemas.microsoft.com/office/drawing/2014/main" id="{E6897F13-552D-4ED3-80CF-53D0C275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62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audit issues</a:t>
            </a:r>
          </a:p>
        </p:txBody>
      </p:sp>
      <p:sp>
        <p:nvSpPr>
          <p:cNvPr id="11" name="metric-official folds">
            <a:extLst xmlns:a="http://schemas.openxmlformats.org/drawingml/2006/main">
              <a:ext uri="{FF2B5EF4-FFF2-40B4-BE49-F238E27FC236}">
                <a16:creationId xmlns:a16="http://schemas.microsoft.com/office/drawing/2014/main" id="{66207E9F-EF1A-46AE-B19F-FA9A1516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764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metric-value-official folds">
            <a:extLst xmlns:a="http://schemas.openxmlformats.org/drawingml/2006/main">
              <a:ext uri="{FF2B5EF4-FFF2-40B4-BE49-F238E27FC236}">
                <a16:creationId xmlns:a16="http://schemas.microsoft.com/office/drawing/2014/main" id="{93F92D4F-438D-4BD6-A2C3-7CD86A85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669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3" name="metric-label-official folds">
            <a:extLst xmlns:a="http://schemas.openxmlformats.org/drawingml/2006/main">
              <a:ext uri="{FF2B5EF4-FFF2-40B4-BE49-F238E27FC236}">
                <a16:creationId xmlns:a16="http://schemas.microsoft.com/office/drawing/2014/main" id="{7C85CE19-5322-48CA-B750-31EC253F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62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official folds</a:t>
            </a:r>
          </a:p>
        </p:txBody>
      </p:sp>
      <p:sp>
        <p:nvSpPr>
          <p:cNvPr id="14" name="metric-edge policy">
            <a:extLst xmlns:a="http://schemas.openxmlformats.org/drawingml/2006/main">
              <a:ext uri="{FF2B5EF4-FFF2-40B4-BE49-F238E27FC236}">
                <a16:creationId xmlns:a16="http://schemas.microsoft.com/office/drawing/2014/main" id="{A02A482F-9D51-4336-9C54-685C40EC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764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metric-value-edge policy">
            <a:extLst xmlns:a="http://schemas.openxmlformats.org/drawingml/2006/main">
              <a:ext uri="{FF2B5EF4-FFF2-40B4-BE49-F238E27FC236}">
                <a16:creationId xmlns:a16="http://schemas.microsoft.com/office/drawing/2014/main" id="{B0ADD394-CB87-49A4-960B-C24313B7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hidden</a:t>
            </a:r>
          </a:p>
        </p:txBody>
      </p:sp>
      <p:sp>
        <p:nvSpPr>
          <p:cNvPr id="16" name="metric-label-edge policy">
            <a:extLst xmlns:a="http://schemas.openxmlformats.org/drawingml/2006/main">
              <a:ext uri="{FF2B5EF4-FFF2-40B4-BE49-F238E27FC236}">
                <a16:creationId xmlns:a16="http://schemas.microsoft.com/office/drawing/2014/main" id="{96E49927-D98D-4652-888D-B527AEE8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edge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EE087-EAE6-476E-9983-C28A7BC0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7A876-7139-4653-BF87-82170AD9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48954-E759-4B8D-910F-4A8DB8C7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327E2-5C39-4CC0-B02E-8B6A737E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Train graph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07C5C-6FED-41A6-B700-B7FAAF2C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52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Validation positives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22D73-3B31-4721-8AC5-1EE21393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Test positives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C622F-F8CC-43B0-8C9B-D06638D5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训练图不包含验证/测试正样本边，避免归纳评估泄漏</a:t>
            </a:r>
          </a:p>
        </p:txBody>
      </p:sp>
    </p:spTree>
    <p:extLst>
      <p:ext uri="{BB962C8B-B14F-4D97-AF65-F5344CB8AC3E}">
        <p14:creationId xmlns:p14="http://schemas.microsoft.com/office/powerpoint/2010/main" val="1998476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A2C2D6E5-CC61-4526-BA85-C5B2A5C9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Baseline Anchor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969E561-FDC5-4B8F-8B47-0D41A99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MSAT 主实验复现结果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817496D4-5377-4669-BFCD-960F28D7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136BB1D-517A-460F-B2A1-52157E22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metric-AUC">
            <a:extLst xmlns:a="http://schemas.openxmlformats.org/drawingml/2006/main">
              <a:ext uri="{FF2B5EF4-FFF2-40B4-BE49-F238E27FC236}">
                <a16:creationId xmlns:a16="http://schemas.microsoft.com/office/drawing/2014/main" id="{51487D53-7DA6-4FBC-9282-C4D8046C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metric-value-AUC">
            <a:extLst xmlns:a="http://schemas.openxmlformats.org/drawingml/2006/main">
              <a:ext uri="{FF2B5EF4-FFF2-40B4-BE49-F238E27FC236}">
                <a16:creationId xmlns:a16="http://schemas.microsoft.com/office/drawing/2014/main" id="{7B971EFB-83E4-41E7-93A9-CF3C5089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0.979271</a:t>
            </a:r>
          </a:p>
        </p:txBody>
      </p:sp>
      <p:sp>
        <p:nvSpPr>
          <p:cNvPr id="7" name="metric-label-AUC">
            <a:extLst xmlns:a="http://schemas.openxmlformats.org/drawingml/2006/main">
              <a:ext uri="{FF2B5EF4-FFF2-40B4-BE49-F238E27FC236}">
                <a16:creationId xmlns:a16="http://schemas.microsoft.com/office/drawing/2014/main" id="{E4D2A19C-0CB1-4386-98A3-4AA399B9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AUC</a:t>
            </a:r>
          </a:p>
        </p:txBody>
      </p:sp>
      <p:sp>
        <p:nvSpPr>
          <p:cNvPr id="8" name="metric-AUPRC">
            <a:extLst xmlns:a="http://schemas.openxmlformats.org/drawingml/2006/main">
              <a:ext uri="{FF2B5EF4-FFF2-40B4-BE49-F238E27FC236}">
                <a16:creationId xmlns:a16="http://schemas.microsoft.com/office/drawing/2014/main" id="{145B1B1B-5031-4B50-AF86-F0D961DB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288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metric-value-AUPRC">
            <a:extLst xmlns:a="http://schemas.openxmlformats.org/drawingml/2006/main">
              <a:ext uri="{FF2B5EF4-FFF2-40B4-BE49-F238E27FC236}">
                <a16:creationId xmlns:a16="http://schemas.microsoft.com/office/drawing/2014/main" id="{4AF45EA4-C487-4C23-8411-92C3F742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19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0.977095</a:t>
            </a:r>
          </a:p>
        </p:txBody>
      </p:sp>
      <p:sp>
        <p:nvSpPr>
          <p:cNvPr id="10" name="metric-label-AUPRC">
            <a:extLst xmlns:a="http://schemas.openxmlformats.org/drawingml/2006/main">
              <a:ext uri="{FF2B5EF4-FFF2-40B4-BE49-F238E27FC236}">
                <a16:creationId xmlns:a16="http://schemas.microsoft.com/office/drawing/2014/main" id="{C81AF03F-C350-4CC2-A5F4-E906045D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AUPRC</a:t>
            </a:r>
          </a:p>
        </p:txBody>
      </p:sp>
      <p:sp>
        <p:nvSpPr>
          <p:cNvPr id="11" name="metric-F1">
            <a:extLst xmlns:a="http://schemas.openxmlformats.org/drawingml/2006/main">
              <a:ext uri="{FF2B5EF4-FFF2-40B4-BE49-F238E27FC236}">
                <a16:creationId xmlns:a16="http://schemas.microsoft.com/office/drawing/2014/main" id="{52F87EB9-62F0-49B0-9078-48425B24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288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metric-value-F1">
            <a:extLst xmlns:a="http://schemas.openxmlformats.org/drawingml/2006/main">
              <a:ext uri="{FF2B5EF4-FFF2-40B4-BE49-F238E27FC236}">
                <a16:creationId xmlns:a16="http://schemas.microsoft.com/office/drawing/2014/main" id="{5155B6A7-9900-4064-95A0-FED4BD85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0.931451</a:t>
            </a:r>
          </a:p>
        </p:txBody>
      </p:sp>
      <p:sp>
        <p:nvSpPr>
          <p:cNvPr id="13" name="metric-label-F1">
            <a:extLst xmlns:a="http://schemas.openxmlformats.org/drawingml/2006/main">
              <a:ext uri="{FF2B5EF4-FFF2-40B4-BE49-F238E27FC236}">
                <a16:creationId xmlns:a16="http://schemas.microsoft.com/office/drawing/2014/main" id="{D72B9934-A764-400A-A81C-6E580969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F1</a:t>
            </a:r>
          </a:p>
        </p:txBody>
      </p:sp>
      <p:sp>
        <p:nvSpPr>
          <p:cNvPr id="14" name="metric-MCC">
            <a:extLst xmlns:a="http://schemas.openxmlformats.org/drawingml/2006/main">
              <a:ext uri="{FF2B5EF4-FFF2-40B4-BE49-F238E27FC236}">
                <a16:creationId xmlns:a16="http://schemas.microsoft.com/office/drawing/2014/main" id="{D143E4BB-231F-447F-AC4D-C0432C73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288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metric-value-MCC">
            <a:extLst xmlns:a="http://schemas.openxmlformats.org/drawingml/2006/main">
              <a:ext uri="{FF2B5EF4-FFF2-40B4-BE49-F238E27FC236}">
                <a16:creationId xmlns:a16="http://schemas.microsoft.com/office/drawing/2014/main" id="{61740477-C8EE-41D4-91EE-163179F5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19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0.862520</a:t>
            </a:r>
          </a:p>
        </p:txBody>
      </p:sp>
      <p:sp>
        <p:nvSpPr>
          <p:cNvPr id="16" name="metric-label-MCC">
            <a:extLst xmlns:a="http://schemas.openxmlformats.org/drawingml/2006/main">
              <a:ext uri="{FF2B5EF4-FFF2-40B4-BE49-F238E27FC236}">
                <a16:creationId xmlns:a16="http://schemas.microsoft.com/office/drawing/2014/main" id="{95290C29-DB23-4C37-9FAF-247BF0CA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MCC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569C2-455E-491E-B65D-4B6A7CF3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主实验复现是后续 PU-XMSAT 的协议锚点；Table 5/6 不混入这页结论。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21CFA-7C79-4D9A-889C-0B75666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Protocol: validation/test edge hidden · Audit: issues []</a:t>
            </a:r>
          </a:p>
        </p:txBody>
      </p:sp>
    </p:spTree>
    <p:extLst>
      <p:ext uri="{BB962C8B-B14F-4D97-AF65-F5344CB8AC3E}">
        <p14:creationId xmlns:p14="http://schemas.microsoft.com/office/powerpoint/2010/main" val="2140544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5">
            <a:extLst xmlns:a="http://schemas.openxmlformats.org/drawingml/2006/main">
              <a:ext uri="{FF2B5EF4-FFF2-40B4-BE49-F238E27FC236}">
                <a16:creationId xmlns:a16="http://schemas.microsoft.com/office/drawing/2014/main" id="{1AF9F978-2DBE-4CEE-9BBB-6AC87192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Boundary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7AEC657-48FF-4706-AD61-62157680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Table 5/6 的复现边界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0446CCE1-496B-435D-89E4-B93AA500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16E82DB-D5DD-4DAD-BF8C-9CD4603B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47411-A73F-46AC-B273-0D1506F0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F399D-6C28-4C73-8F5E-5D01403B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30FE6-E946-4A7A-868E-B5B3BF9A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38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主实验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D5244-DF89-44BF-AE2E-9B794FD5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Table 5/6</a:t>
            </a:r>
          </a:p>
        </p:txBody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8A422DFE-37ED-48A6-9CBF-F456DB06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1B67927E-AAE1-49D9-A959-237C1672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10 折性能指标</a:t>
            </a:r>
          </a:p>
        </p:txBody>
      </p:sp>
      <p:sp>
        <p:nvSpPr>
          <p:cNvPr id="1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FE3330F7-56F6-426E-B3DA-7DC14DAE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9E70C2C2-C2DA-4883-86C9-05BD325D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432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协议可审计</a:t>
            </a:r>
          </a:p>
        </p:txBody>
      </p:sp>
      <p:sp>
        <p:nvSpPr>
          <p:cNvPr id="1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2F61F94-469A-44C3-9259-C05A5A82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EEAAD41-3B04-4C1B-ABC9-DB4C3E32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当前可作为复现锚点</a:t>
            </a:r>
          </a:p>
        </p:txBody>
      </p:sp>
      <p:sp>
        <p:nvSpPr>
          <p:cNvPr id="15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C0C73573-5B82-437A-95BE-45C4E054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6FCEB7C7-B13F-43F3-B4CB-6E8AB80E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外部验证与解释性案例</a:t>
            </a:r>
          </a:p>
        </p:txBody>
      </p:sp>
      <p:sp>
        <p:nvSpPr>
          <p:cNvPr id="17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AF357006-73BC-4104-A13B-E444C893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183E4FDF-BC8F-4794-9867-648DA54D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依赖未公开候选流程和 checkpoint</a:t>
            </a:r>
          </a:p>
        </p:txBody>
      </p:sp>
      <p:sp>
        <p:nvSpPr>
          <p:cNvPr id="19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E1130EE2-6CF1-4E5A-A2FD-1688035E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D473EB5-FD08-46A7-B5A0-C77D56C5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814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当前支持率 1/15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36FC73-F357-46F9-993C-48906E8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汇报口径：主实验与多数核心结果已复现；Table 5/6 公开材料下无法论文等价复现。</a:t>
            </a:r>
          </a:p>
        </p:txBody>
      </p:sp>
    </p:spTree>
    <p:extLst>
      <p:ext uri="{BB962C8B-B14F-4D97-AF65-F5344CB8AC3E}">
        <p14:creationId xmlns:p14="http://schemas.microsoft.com/office/powerpoint/2010/main" val="1913112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6">
            <a:extLst xmlns:a="http://schemas.openxmlformats.org/drawingml/2006/main">
              <a:ext uri="{FF2B5EF4-FFF2-40B4-BE49-F238E27FC236}">
                <a16:creationId xmlns:a16="http://schemas.microsoft.com/office/drawing/2014/main" id="{06DC848D-DDDC-4B82-8D26-BB44A506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Method Motivation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65E434B-6E1F-43E7-85AB-A2F1B31D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PU-XMSAT 方法动机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A31BD8C5-4CF5-4AA4-83B8-61E976EB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1EE76FBD-DEC5-4D9A-81B7-CE288320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49293-031C-499B-B36D-70B2B62E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原假设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C385A-577A-4C0D-A91E-746A0C3C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未观测 CMM-ADR pair ≈ negative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2F26C-EBA4-4032-9DB2-7161328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可能混杂因素</a:t>
            </a:r>
          </a:p>
        </p:txBody>
      </p:sp>
      <p:sp>
        <p:nvSpPr>
          <p:cNvPr id="8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5AA4786E-B8BF-4DDB-BED6-C25C138F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1B7B7F5-22A5-4660-A933-B01082B0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报告偏倚</a:t>
            </a:r>
          </a:p>
        </p:txBody>
      </p:sp>
      <p:sp>
        <p:nvSpPr>
          <p:cNvPr id="1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A28A1ED-44CA-4D49-94F0-C6344AA9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FECC808-C940-405B-84C8-0BB5B8C2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适应症偏倚</a:t>
            </a:r>
          </a:p>
        </p:txBody>
      </p:sp>
      <p:sp>
        <p:nvSpPr>
          <p:cNvPr id="1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99FF91F3-A164-4921-AA13-ED783A4A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692E9D2A-910F-4EEC-8101-CF1B9BD4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合并用药</a:t>
            </a:r>
          </a:p>
        </p:txBody>
      </p:sp>
      <p:sp>
        <p:nvSpPr>
          <p:cNvPr id="1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BD55B367-0607-4843-AC53-91627C0B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C65D5CC-8D1A-4250-BAFC-39DD54E2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暴露人群差异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40041-59A6-42B6-989C-8B926065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C098E-FD81-4567-BBF8-58D873F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6FC42-EC7F-434F-9C2B-BB9A3D3B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5EC8B-E47B-454A-9543-A310AA3E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Observed positives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8CE87-4BEA-4A67-9851-830B05BB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194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Reliable negatives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D8BD4-D7F2-437E-AE87-BE77FF2B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529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Unlabeled · lower weight</a:t>
            </a:r>
          </a:p>
        </p:txBody>
      </p:sp>
    </p:spTree>
    <p:extLst>
      <p:ext uri="{BB962C8B-B14F-4D97-AF65-F5344CB8AC3E}">
        <p14:creationId xmlns:p14="http://schemas.microsoft.com/office/powerpoint/2010/main" val="933497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7">
            <a:extLst xmlns:a="http://schemas.openxmlformats.org/drawingml/2006/main">
              <a:ext uri="{FF2B5EF4-FFF2-40B4-BE49-F238E27FC236}">
                <a16:creationId xmlns:a16="http://schemas.microsoft.com/office/drawing/2014/main" id="{CE258B56-66BC-4E4F-A957-5D3E4F43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Experiment Design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B3F6DEC-4677-439E-B1BE-8388CB5E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PU-XMSAT 实验设置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E1AE433C-E924-483F-86AF-1DCB0BE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6CD30566-9BFE-48B8-A61A-5671CBCD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028700" y="1676400"/>
          <a:ext xmlns:a="http://schemas.openxmlformats.org/drawingml/2006/main" cx="74295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4953000"/>
              </a:tblGrid>
              <a:tr h="449036">
                <a:tc>
                  <a:txBody>
                    <a:bodyPr/>
                    <a:lstStyle/>
                    <a:p>
                      <a:r>
                        <a:t>设置项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当前方案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训练后端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full_msat_pu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采样策略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hybrid 为主，random 为对照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候选缓存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corrected randomized random50k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配对规模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full-positive 66,015 pairs/fold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阈值选择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validation-F1-selected threshold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默认权重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u=0.2, rn=0.8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C0E91-F683-46DA-997C-88FC061A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设计原则</a:t>
            </a:r>
          </a:p>
        </p:txBody>
      </p:sp>
      <p:sp>
        <p:nvSpPr>
          <p:cNvPr id="7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67A05AF-411E-4863-8858-8E6AEF3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676F23C6-71CC-462B-888F-2E8FEF6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622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random 用作可行性消融</a:t>
            </a:r>
          </a:p>
        </p:txBody>
      </p:sp>
      <p:sp>
        <p:nvSpPr>
          <p:cNvPr id="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63A9E3F-68EC-4087-9CB7-811FC550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A750705-0256-4041-AC89-57AF327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hybrid 作为主设置</a:t>
            </a:r>
          </a:p>
        </p:txBody>
      </p:sp>
      <p:sp>
        <p:nvSpPr>
          <p:cNvPr id="1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8F8226C0-B115-4EB8-8AC0-43491F2F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1DF4FEA-2AD8-4207-A488-A91EE9A4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909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不再重复旧 prefix cache</a:t>
            </a:r>
          </a:p>
        </p:txBody>
      </p:sp>
    </p:spTree>
    <p:extLst>
      <p:ext uri="{BB962C8B-B14F-4D97-AF65-F5344CB8AC3E}">
        <p14:creationId xmlns:p14="http://schemas.microsoft.com/office/powerpoint/2010/main" val="424518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8">
            <a:extLst xmlns:a="http://schemas.openxmlformats.org/drawingml/2006/main">
              <a:ext uri="{FF2B5EF4-FFF2-40B4-BE49-F238E27FC236}">
                <a16:creationId xmlns:a16="http://schemas.microsoft.com/office/drawing/2014/main" id="{22A9A330-DDCD-4154-ABE5-631A63C7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Main Results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DE082D0-5A36-47DC-9F97-B6D1B0CF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PU-XMSAT 主结果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2E32F610-86C7-498C-A8B0-175E873A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5C7BE83A-F280-40A6-88F8-1ADD252C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7239000" cy="2552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18403"/>
                <a:gridCol w="817306"/>
                <a:gridCol w="1050823"/>
                <a:gridCol w="1050823"/>
                <a:gridCol w="1050823"/>
                <a:gridCol w="1050823"/>
              </a:tblGrid>
              <a:tr h="425450">
                <a:tc>
                  <a:txBody>
                    <a:bodyPr/>
                    <a:lstStyle/>
                    <a:p>
                      <a:r>
                        <a:t>Setting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AUPRC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MCC</a:t>
                      </a:r>
                    </a:p>
                  </a:txBody>
                  <a:tcPr marL="91440" marR="91440" marT="45720" marB="45720"/>
                </a:tc>
              </a:tr>
              <a:tr h="425450">
                <a:tc>
                  <a:txBody>
                    <a:bodyPr/>
                    <a:lstStyle/>
                    <a:p>
                      <a:r>
                        <a:t>MSAT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0.9793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0.9771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0.9315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0.8625</a:t>
                      </a:r>
                    </a:p>
                  </a:txBody>
                  <a:tcPr marL="91440" marR="91440" marT="45720" marB="45720"/>
                </a:tc>
              </a:tr>
              <a:tr h="425450">
                <a:tc>
                  <a:txBody>
                    <a:bodyPr/>
                    <a:lstStyle/>
                    <a:p>
                      <a:r>
                        <a:t>PU random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0.9796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0.9773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0.8625</a:t>
                      </a:r>
                    </a:p>
                  </a:txBody>
                  <a:tcPr marL="91440" marR="91440" marT="45720" marB="45720"/>
                </a:tc>
              </a:tr>
              <a:tr h="425450">
                <a:tc>
                  <a:txBody>
                    <a:bodyPr/>
                    <a:lstStyle/>
                    <a:p>
                      <a:r>
                        <a:t>PU random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0.9797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0.9777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0.9338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0.8661</a:t>
                      </a:r>
                    </a:p>
                  </a:txBody>
                  <a:tcPr marL="91440" marR="91440" marT="45720" marB="45720"/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PU hybrid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0.9804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0.9779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0.9351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0.8684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PU hybrid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1337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0.9804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0.9780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0.9348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0.8683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305800" y="1809750"/>
          <a:ext xmlns:a="http://schemas.openxmlformats.org/drawingml/2006/main" cx="2857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1260c11994430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DE2DB-1B1C-4C6E-8C0A-74B443E4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hybrid 是当前最强设置；random 是 baseline-level 对照。</a:t>
            </a:r>
          </a:p>
        </p:txBody>
      </p:sp>
    </p:spTree>
    <p:extLst>
      <p:ext uri="{BB962C8B-B14F-4D97-AF65-F5344CB8AC3E}">
        <p14:creationId xmlns:p14="http://schemas.microsoft.com/office/powerpoint/2010/main" val="1965340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6611C894-C9DA-4034-A572-548B149D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Robustness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64C24E9-DF5C-4278-964C-C761A5B6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Hybrid 统计比较与 seed 稳健性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9B6B6C02-19EE-4C57-B884-735D4369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5AD4C39C-D1E0-40CE-AB71-E989D67E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C783CD4F-9803-4965-B8CD-9CDA9F51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17DA67C9-8DD2-4C39-AC63-93EDFFC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seed=2026：AUC/AUPRC/F1/MCC paired t-test 均过 0.05</a:t>
            </a:r>
          </a:p>
        </p:txBody>
      </p:sp>
      <p:sp>
        <p:nvSpPr>
          <p:cNvPr id="7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998B278-52D3-431B-8E21-D90AF159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4F332C6-6C3E-48D2-9462-394467F2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seed=1337：AUC/F1/MCC 显著，AUPRC 正向但边界显著 p=0.056348</a:t>
            </a:r>
          </a:p>
        </p:txBody>
      </p:sp>
      <p:sp>
        <p:nvSpPr>
          <p:cNvPr id="9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E9C4E29D-AF99-42A7-A09F-4570AA1B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EA147C1-6FAD-472D-8791-A351BF41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推荐 claim：AUC/F1/MCC seed-robust gains，AUPRC stable positive trend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7334250" y="1676400"/>
          <a:ext xmlns:a="http://schemas.openxmlformats.org/drawingml/2006/main" cx="3714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b407e6beff4f2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86A8E-8D54-4B4F-9340-C174CFAD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81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两个 hybrid seed 的均值范围很小（×10^-4）</a:t>
            </a:r>
          </a:p>
        </p:txBody>
      </p:sp>
    </p:spTree>
    <p:extLst>
      <p:ext uri="{BB962C8B-B14F-4D97-AF65-F5344CB8AC3E}">
        <p14:creationId xmlns:p14="http://schemas.microsoft.com/office/powerpoint/2010/main" val="1904402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0">
            <a:extLst xmlns:a="http://schemas.openxmlformats.org/drawingml/2006/main">
              <a:ext uri="{FF2B5EF4-FFF2-40B4-BE49-F238E27FC236}">
                <a16:creationId xmlns:a16="http://schemas.microsoft.com/office/drawing/2014/main" id="{11C2EB00-292C-4A7A-BFC3-A2EA7CC2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Sensitivity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C16AA6B-0033-4DCF-9AC9-710CFACB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PU 权重敏感性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BB35A4C6-5777-429C-BCD6-FFC598D6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A7BE9DEC-7FC7-4813-8BAD-8FC00010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704850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30130"/>
                <a:gridCol w="1021522"/>
                <a:gridCol w="1021522"/>
                <a:gridCol w="1021522"/>
                <a:gridCol w="1021522"/>
                <a:gridCol w="1532283"/>
              </a:tblGrid>
              <a:tr h="547688">
                <a:tc>
                  <a:txBody>
                    <a:bodyPr/>
                    <a:lstStyle/>
                    <a:p>
                      <a:r>
                        <a:t>权重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AUPRC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MCC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结论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t>u0.1/rn0.8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0.9799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0.9774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整体变弱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u0.2/rn0.8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0.9804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0.9780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0.9348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0.8683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当前默认</a:t>
                      </a:r>
                    </a:p>
                  </a:txBody>
                  <a:tcPr marL="91440" marR="91440" marT="45720" marB="45720">
                    <a:solidFill>
                      <a:srgbClr val="FFF0EA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t>u0.4/rn0.8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0.9805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0.9779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0.9344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阈值指标略弱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191500" y="1790700"/>
          <a:ext xmlns:a="http://schemas.openxmlformats.org/drawingml/2006/main" cx="28575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a3e0b84a964a2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12A45-4C08-440F-969B-ABD2D6D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u0.2/rn0.8 是 ranking 与 thresholded metrics 的平衡设置。</a:t>
            </a:r>
          </a:p>
        </p:txBody>
      </p:sp>
    </p:spTree>
    <p:extLst>
      <p:ext uri="{BB962C8B-B14F-4D97-AF65-F5344CB8AC3E}">
        <p14:creationId xmlns:p14="http://schemas.microsoft.com/office/powerpoint/2010/main" val="21320819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1">
            <a:extLst xmlns:a="http://schemas.openxmlformats.org/drawingml/2006/main">
              <a:ext uri="{FF2B5EF4-FFF2-40B4-BE49-F238E27FC236}">
                <a16:creationId xmlns:a16="http://schemas.microsoft.com/office/drawing/2014/main" id="{19AF9FC8-C340-48D2-A6A4-346D2BAD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Claim Boundary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4BB6962F-F4DF-4544-A411-82118000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当前结论与 claim 边界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2417F27F-0465-462E-AAA8-18A24FBB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46DCBE1B-A0E6-4FD8-B815-323F309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8335B-8504-4D98-B6E1-C757B909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84EE6-BAAF-4714-AE88-D68D53A1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C27B4-4D1A-420D-B6E1-D703247D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F7A4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F7A4D"/>
                </a:solidFill>
                <a:latin typeface="PingFang SC"/>
                <a:ea typeface="PingFang SC"/>
                <a:cs typeface="PingFang SC"/>
              </a:rPr>
              <a:t>可以说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C79DB-0550-4137-A014-D71A053E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62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不要说</a:t>
            </a:r>
          </a:p>
        </p:txBody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015FD46D-7987-413B-A14F-6F06255F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37E48795-A02E-4FE8-AA50-CAD731A3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主实验与多数核心结果已复现</a:t>
            </a:r>
          </a:p>
        </p:txBody>
      </p:sp>
      <p:sp>
        <p:nvSpPr>
          <p:cNvPr id="1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C65DABEB-E69A-415C-B8A9-73A572B6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20A39A0-E3C2-4E6E-92C7-8A8CE739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Table 5/6 是外部验证边界</a:t>
            </a:r>
          </a:p>
        </p:txBody>
      </p:sp>
      <p:sp>
        <p:nvSpPr>
          <p:cNvPr id="1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06622E7C-2772-443D-B5EE-F5F829A9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A4478E3A-B0E2-4600-8EEF-BDB584C8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hybrid 在 AUC/F1/MCC 稳定提升</a:t>
            </a:r>
          </a:p>
        </p:txBody>
      </p:sp>
      <p:sp>
        <p:nvSpPr>
          <p:cNvPr id="15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050820D0-1C1A-4388-97F1-C6BBB4A4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292A9FD5-E718-4F72-B626-B45353CD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AUPRC 是稳定正向趋势</a:t>
            </a:r>
          </a:p>
        </p:txBody>
      </p:sp>
      <p:sp>
        <p:nvSpPr>
          <p:cNvPr id="17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8AA9B48-0F95-4F1D-BE14-7B14AD7F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6E527AA8-F309-4357-98E8-9503CD79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全文 100% 复现</a:t>
            </a:r>
          </a:p>
        </p:txBody>
      </p:sp>
      <p:sp>
        <p:nvSpPr>
          <p:cNvPr id="1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80F282E7-797B-4C23-AA79-B5AB5E0C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7005D97-1DD8-4A8A-B60E-611C28D2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670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Table 5/6 已完整复现</a:t>
            </a:r>
          </a:p>
        </p:txBody>
      </p:sp>
      <p:sp>
        <p:nvSpPr>
          <p:cNvPr id="2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00B025EC-F0C4-4BE7-B930-C31D2938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B8819477-1A74-4AB2-BA93-FDF844C2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PU-XMSAT 全面绝对优于 MSAT</a:t>
            </a:r>
          </a:p>
        </p:txBody>
      </p:sp>
      <p:sp>
        <p:nvSpPr>
          <p:cNvPr id="23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9674D55F-F382-4785-843B-723B8D42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F9881B9-AFC8-4DAF-BD07-EF09040E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隐藏 AUPRC 边界显著</a:t>
            </a:r>
          </a:p>
        </p:txBody>
      </p:sp>
    </p:spTree>
    <p:extLst>
      <p:ext uri="{BB962C8B-B14F-4D97-AF65-F5344CB8AC3E}">
        <p14:creationId xmlns:p14="http://schemas.microsoft.com/office/powerpoint/2010/main" val="3604605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2">
            <a:extLst xmlns:a="http://schemas.openxmlformats.org/drawingml/2006/main">
              <a:ext uri="{FF2B5EF4-FFF2-40B4-BE49-F238E27FC236}">
                <a16:creationId xmlns:a16="http://schemas.microsoft.com/office/drawing/2014/main" id="{62C7DC5A-AEC8-4B21-9A1A-5DA165DC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Next Step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D191CB94-6A16-49CB-ABFB-531D414E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下一步研究计划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47DB5454-2158-4ECA-9EA4-D460926E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1D48A3F8-888D-4B42-9634-0743724B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E640F-F3FF-47D9-8D75-709345F7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787DD-5331-42C2-9142-A1C64837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论文正文整理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63038-D249-4849-8CD8-BA128A9D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57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Methods 写 PU-XMSAT 构造；Results 写主表、paired test、权重敏感性。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B15F1-3F5C-48CD-8A00-8DEDEDB1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31B59-E259-4D89-B3A6-D28B8008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外部证据与案例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22F64-D8B6-4129-BC44-9454BEF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257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Table 5/6 从强行复现转为外部证据分级与解释性分析入口。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3E033-8A09-466D-8756-8A062870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907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03E14-325C-40AF-A273-15F8297C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模型继续改进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EAF6B-F887-438B-BB4C-9AC4CD41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257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沿因果混杂控制、关键子图解释、SHAP/注意力解释和更严格负样本策略推进。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4A76C-8769-4F46-9F65-546D1CA2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从“复现是否站得住”转向“如何形成自己的研究贡献”。</a:t>
            </a:r>
          </a:p>
        </p:txBody>
      </p:sp>
    </p:spTree>
    <p:extLst>
      <p:ext uri="{BB962C8B-B14F-4D97-AF65-F5344CB8AC3E}">
        <p14:creationId xmlns:p14="http://schemas.microsoft.com/office/powerpoint/2010/main" val="2121575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2026-06-27T09:48:59.7940000Z</dcterms:created>
  <dcterms:modified xsi:type="dcterms:W3CDTF">2026-06-27T09:48:59.7940000Z</dcterms:modified>
</coreProperties>
</file>